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F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84048"/>
            <a:ext cx="11356848" cy="6080760"/>
          </a:xfrm>
          <a:prstGeom prst="roundRect">
            <a:avLst/>
          </a:prstGeom>
          <a:solidFill>
            <a:srgbClr val="182B36"/>
          </a:solidFill>
          <a:ln w="12700">
            <a:solidFill>
              <a:srgbClr val="30B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400" b="1">
                <a:solidFill>
                  <a:srgbClr val="F7FAFA"/>
                </a:solidFill>
                <a:latin typeface="Aptos"/>
              </a:defRPr>
            </a:pPr>
            <a:r>
              <a:t>FAST FOOD CALORIES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6187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D2E5E9"/>
                </a:solidFill>
                <a:latin typeface="Aptos"/>
              </a:defRPr>
            </a:pPr>
            <a:r>
              <a:t>Dashboard Presentation • Descriptive Analysis</a:t>
            </a:r>
          </a:p>
        </p:txBody>
      </p:sp>
      <p:pic>
        <p:nvPicPr>
          <p:cNvPr id="5" name="Picture 4" descr="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098" y="1755648"/>
            <a:ext cx="7608466" cy="4251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D2E5E9"/>
                </a:solidFill>
                <a:latin typeface="Aptos"/>
              </a:defRPr>
            </a:pPr>
            <a:r>
              <a:t>Based on the supplied Power BI dashboard 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46520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D2E5E9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F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7FAFA"/>
                </a:solidFill>
                <a:latin typeface="Aptos"/>
              </a:defRPr>
            </a:pPr>
            <a:r>
              <a:t>Dashboard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039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D2E5E9"/>
                </a:solidFill>
                <a:latin typeface="Aptos"/>
              </a:defRPr>
            </a:pPr>
            <a:r>
              <a:t>The original dashboard combines summary cards, brand comparisons and age-based trends.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1143000" cy="45720"/>
          </a:xfrm>
          <a:prstGeom prst="rect">
            <a:avLst/>
          </a:prstGeom>
          <a:solidFill>
            <a:srgbClr val="1C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D2E5E9"/>
                </a:solidFill>
                <a:latin typeface="Aptos"/>
              </a:defRPr>
            </a:pPr>
            <a:r>
              <a:t>02</a:t>
            </a:r>
          </a:p>
        </p:txBody>
      </p:sp>
      <p:pic>
        <p:nvPicPr>
          <p:cNvPr id="6" name="Picture 5" descr="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96218"/>
            <a:ext cx="7360920" cy="411361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92440" y="1627632"/>
            <a:ext cx="3474720" cy="4069080"/>
          </a:xfrm>
          <a:prstGeom prst="roundRect">
            <a:avLst/>
          </a:prstGeom>
          <a:solidFill>
            <a:srgbClr val="305363"/>
          </a:solidFill>
          <a:ln w="12700">
            <a:solidFill>
              <a:srgbClr val="30B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1874519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7FAFA"/>
                </a:solidFill>
                <a:latin typeface="Aptos"/>
              </a:defRPr>
            </a:pPr>
            <a:r>
              <a:t>What the dashboard contains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606040"/>
            <a:ext cx="2926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7FAFA"/>
                </a:solidFill>
                <a:latin typeface="Aptos"/>
              </a:defRPr>
            </a:pPr>
            <a:r>
              <a:t>Four KPI cards across the top</a:t>
            </a:r>
          </a:p>
          <a:p>
            <a:pPr>
              <a:spcAft>
                <a:spcPts val="1200"/>
              </a:spcAft>
              <a:defRPr sz="1500">
                <a:solidFill>
                  <a:srgbClr val="F7FAFA"/>
                </a:solidFill>
                <a:latin typeface="Aptos"/>
              </a:defRPr>
            </a:pPr>
            <a:r>
              <a:t>Brand-level item-count and calorie comparisons</a:t>
            </a:r>
          </a:p>
          <a:p>
            <a:pPr>
              <a:spcAft>
                <a:spcPts val="1200"/>
              </a:spcAft>
              <a:defRPr sz="1500">
                <a:solidFill>
                  <a:srgbClr val="F7FAFA"/>
                </a:solidFill>
                <a:latin typeface="Aptos"/>
              </a:defRPr>
            </a:pPr>
            <a:r>
              <a:t>Meal-category total calorie comparison</a:t>
            </a:r>
          </a:p>
          <a:p>
            <a:pPr>
              <a:spcAft>
                <a:spcPts val="1200"/>
              </a:spcAft>
              <a:defRPr sz="1500">
                <a:solidFill>
                  <a:srgbClr val="F7FAFA"/>
                </a:solidFill>
                <a:latin typeface="Aptos"/>
              </a:defRPr>
            </a:pPr>
            <a:r>
              <a:t>Age-based calorie and surplus trends</a:t>
            </a:r>
          </a:p>
          <a:p>
            <a:pPr>
              <a:spcAft>
                <a:spcPts val="1200"/>
              </a:spcAft>
              <a:defRPr sz="1500">
                <a:solidFill>
                  <a:srgbClr val="F7FAFA"/>
                </a:solidFill>
                <a:latin typeface="Aptos"/>
              </a:defRPr>
            </a:pPr>
            <a:r>
              <a:t>Consumer segment distributions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0533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D2E5E9"/>
                </a:solidFill>
                <a:latin typeface="Aptos"/>
              </a:defRPr>
            </a:pPr>
            <a:r>
              <a:t>Use the visuals together to move from summary measures to comparisons and trends.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F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7FAFA"/>
                </a:solidFill>
                <a:latin typeface="Aptos"/>
              </a:defRPr>
            </a:pPr>
            <a:r>
              <a:t>Headline Metrics (KPIs)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039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D2E5E9"/>
                </a:solidFill>
                <a:latin typeface="Aptos"/>
              </a:defRPr>
            </a:pPr>
            <a:r>
              <a:t>The figures below are read directly from the supplied dashboard screenshot.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1143000" cy="45720"/>
          </a:xfrm>
          <a:prstGeom prst="rect">
            <a:avLst/>
          </a:prstGeom>
          <a:solidFill>
            <a:srgbClr val="1C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D2E5E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7589520" cy="1920240"/>
          </a:xfrm>
          <a:prstGeom prst="roundRect">
            <a:avLst/>
          </a:prstGeom>
          <a:solidFill>
            <a:srgbClr val="305363"/>
          </a:solidFill>
          <a:ln w="12700">
            <a:solidFill>
              <a:srgbClr val="30B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kp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018101"/>
            <a:ext cx="7296912" cy="98385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366760" y="1554480"/>
            <a:ext cx="3246120" cy="4069080"/>
          </a:xfrm>
          <a:prstGeom prst="roundRect">
            <a:avLst/>
          </a:prstGeom>
          <a:solidFill>
            <a:srgbClr val="305363"/>
          </a:solidFill>
          <a:ln w="12700">
            <a:solidFill>
              <a:srgbClr val="30B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68512" y="1828800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7FAFA"/>
                </a:solidFill>
                <a:latin typeface="Aptos"/>
              </a:defRPr>
            </a:pPr>
            <a:r>
              <a:t>Why these matter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468880"/>
            <a:ext cx="2651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7FAFA"/>
                </a:solidFill>
                <a:latin typeface="Aptos"/>
              </a:defRPr>
            </a:pPr>
            <a:r>
              <a:t>Quickly summarise the selected dataset</a:t>
            </a:r>
          </a:p>
          <a:p>
            <a:pPr>
              <a:spcAft>
                <a:spcPts val="1200"/>
              </a:spcAft>
              <a:defRPr sz="1600">
                <a:solidFill>
                  <a:srgbClr val="F7FAFA"/>
                </a:solidFill>
                <a:latin typeface="Aptos"/>
              </a:defRPr>
            </a:pPr>
            <a:r>
              <a:t>Give viewers a starting point before chart analysis</a:t>
            </a:r>
          </a:p>
          <a:p>
            <a:pPr>
              <a:spcAft>
                <a:spcPts val="1200"/>
              </a:spcAft>
              <a:defRPr sz="1600">
                <a:solidFill>
                  <a:srgbClr val="F7FAFA"/>
                </a:solidFill>
                <a:latin typeface="Aptos"/>
              </a:defRPr>
            </a:pPr>
            <a:r>
              <a:t>Help compare the dashboard’s measures at a glance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77639"/>
            <a:ext cx="7223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7FAFA"/>
                </a:solidFill>
                <a:latin typeface="Aptos"/>
              </a:defRPr>
            </a:pPr>
            <a:r>
              <a:t>Average daily calories: 80.13   •   Total item count: 28K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480560"/>
            <a:ext cx="7223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D2E5E9"/>
                </a:solidFill>
                <a:latin typeface="Aptos"/>
              </a:defRPr>
            </a:pPr>
            <a:r>
              <a:t>Average consumer weight: 77.80   •   Average sugar weight: 62.25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978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D2E5E9"/>
                </a:solidFill>
                <a:latin typeface="Aptos"/>
              </a:defRPr>
            </a:pPr>
            <a:r>
              <a:t>Confirm units and field definitions in the dataset before interpreting these numbers.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F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7FAFA"/>
                </a:solidFill>
                <a:latin typeface="Aptos"/>
              </a:defRPr>
            </a:pPr>
            <a:r>
              <a:t>Fast-Food Chain by Calories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039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D2E5E9"/>
                </a:solidFill>
                <a:latin typeface="Aptos"/>
              </a:defRPr>
            </a:pPr>
            <a:r>
              <a:t>Reference visual: horizontal bar chart in the middle of the dashboard.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1143000" cy="45720"/>
          </a:xfrm>
          <a:prstGeom prst="rect">
            <a:avLst/>
          </a:prstGeom>
          <a:solidFill>
            <a:srgbClr val="1C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D2E5E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6400800" cy="4480560"/>
          </a:xfrm>
          <a:prstGeom prst="roundRect">
            <a:avLst/>
          </a:prstGeom>
          <a:solidFill>
            <a:srgbClr val="305363"/>
          </a:solidFill>
          <a:ln w="12700">
            <a:solidFill>
              <a:srgbClr val="30B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ain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98294"/>
            <a:ext cx="6080760" cy="331063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78040" y="1691640"/>
            <a:ext cx="4343400" cy="3886200"/>
          </a:xfrm>
          <a:prstGeom prst="roundRect">
            <a:avLst/>
          </a:prstGeom>
          <a:solidFill>
            <a:srgbClr val="305363"/>
          </a:solidFill>
          <a:ln w="12700">
            <a:solidFill>
              <a:srgbClr val="30B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196596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F7FAFA"/>
                </a:solidFill>
                <a:latin typeface="Aptos"/>
              </a:defRPr>
            </a:pPr>
            <a:r>
              <a:t>What stands 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260604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7FAFA"/>
                </a:solidFill>
                <a:latin typeface="Aptos"/>
              </a:defRPr>
            </a:pPr>
            <a:r>
              <a:t>McDonald’s has the longest bar in this comparison.</a:t>
            </a:r>
          </a:p>
          <a:p>
            <a:pPr>
              <a:spcAft>
                <a:spcPts val="1200"/>
              </a:spcAft>
              <a:defRPr sz="1600">
                <a:solidFill>
                  <a:srgbClr val="F7FAFA"/>
                </a:solidFill>
                <a:latin typeface="Aptos"/>
              </a:defRPr>
            </a:pPr>
            <a:r>
              <a:t>Burger King and Taco Bell are among the next highest.</a:t>
            </a:r>
          </a:p>
          <a:p>
            <a:pPr>
              <a:spcAft>
                <a:spcPts val="1200"/>
              </a:spcAft>
              <a:defRPr sz="1600">
                <a:solidFill>
                  <a:srgbClr val="F7FAFA"/>
                </a:solidFill>
                <a:latin typeface="Aptos"/>
              </a:defRPr>
            </a:pPr>
            <a:r>
              <a:t>Starbucks appears toward the lower end.</a:t>
            </a:r>
          </a:p>
          <a:p>
            <a:pPr>
              <a:spcAft>
                <a:spcPts val="1200"/>
              </a:spcAft>
              <a:defRPr sz="1600">
                <a:solidFill>
                  <a:srgbClr val="F7FAFA"/>
                </a:solidFill>
                <a:latin typeface="Aptos"/>
              </a:defRPr>
            </a:pPr>
            <a:r>
              <a:t>The chart is useful for ranking brands by the displayed measure.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144768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D2E5E9"/>
                </a:solidFill>
                <a:latin typeface="Aptos"/>
              </a:defRPr>
            </a:pPr>
            <a:r>
              <a:t>Interpretation depends on the aggregation and units used in the source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F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7FAFA"/>
                </a:solidFill>
                <a:latin typeface="Aptos"/>
              </a:defRPr>
            </a:pPr>
            <a:r>
              <a:t>Item Count by Fast-Food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039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D2E5E9"/>
                </a:solidFill>
                <a:latin typeface="Aptos"/>
              </a:defRPr>
            </a:pPr>
            <a:r>
              <a:t>The pie chart shows the distribution of item count across the listed chains.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1143000" cy="45720"/>
          </a:xfrm>
          <a:prstGeom prst="rect">
            <a:avLst/>
          </a:prstGeom>
          <a:solidFill>
            <a:srgbClr val="1C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D2E5E9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166360" cy="4389120"/>
          </a:xfrm>
          <a:prstGeom prst="roundRect">
            <a:avLst/>
          </a:prstGeom>
          <a:solidFill>
            <a:srgbClr val="305363"/>
          </a:solidFill>
          <a:ln w="12700">
            <a:solidFill>
              <a:srgbClr val="30B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ain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930" y="1737360"/>
            <a:ext cx="3694922" cy="4023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080760" y="1737360"/>
            <a:ext cx="5440680" cy="3977639"/>
          </a:xfrm>
          <a:prstGeom prst="roundRect">
            <a:avLst/>
          </a:prstGeom>
          <a:solidFill>
            <a:srgbClr val="305363"/>
          </a:solidFill>
          <a:ln w="12700">
            <a:solidFill>
              <a:srgbClr val="30B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F7FAFA"/>
                </a:solidFill>
                <a:latin typeface="Aptos"/>
              </a:defRPr>
            </a:pPr>
            <a:r>
              <a:t>How to read this visual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265176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7FAFA"/>
                </a:solidFill>
                <a:latin typeface="Aptos"/>
              </a:defRPr>
            </a:pPr>
            <a:r>
              <a:t>Each slice represents a fast-food chain’s share of the displayed item count.</a:t>
            </a:r>
          </a:p>
          <a:p>
            <a:pPr>
              <a:spcAft>
                <a:spcPts val="1200"/>
              </a:spcAft>
              <a:defRPr sz="1600">
                <a:solidFill>
                  <a:srgbClr val="F7FAFA"/>
                </a:solidFill>
                <a:latin typeface="Aptos"/>
              </a:defRPr>
            </a:pPr>
            <a:r>
              <a:t>McDonald’s is labelled as the largest share in the visible chart.</a:t>
            </a:r>
          </a:p>
          <a:p>
            <a:pPr>
              <a:spcAft>
                <a:spcPts val="1200"/>
              </a:spcAft>
              <a:defRPr sz="1600">
                <a:solidFill>
                  <a:srgbClr val="F7FAFA"/>
                </a:solidFill>
                <a:latin typeface="Aptos"/>
              </a:defRPr>
            </a:pPr>
            <a:r>
              <a:t>The chart offers a quick overview of how the count is distributed.</a:t>
            </a:r>
          </a:p>
          <a:p>
            <a:pPr>
              <a:spcAft>
                <a:spcPts val="1200"/>
              </a:spcAft>
              <a:defRPr sz="1600">
                <a:solidFill>
                  <a:srgbClr val="F7FAFA"/>
                </a:solidFill>
                <a:latin typeface="Aptos"/>
              </a:defRPr>
            </a:pPr>
            <a:r>
              <a:t>Small slices and truncated labels may be easier to inspect in Power BI.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144768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D2E5E9"/>
                </a:solidFill>
                <a:latin typeface="Aptos"/>
              </a:defRPr>
            </a:pPr>
            <a:r>
              <a:t>The percentages shown are those visible in the dashboard image.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F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7FAFA"/>
                </a:solidFill>
                <a:latin typeface="Aptos"/>
              </a:defRPr>
            </a:pPr>
            <a:r>
              <a:t>Meal Categories by Total Calories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039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D2E5E9"/>
                </a:solidFill>
                <a:latin typeface="Aptos"/>
              </a:defRPr>
            </a:pPr>
            <a:r>
              <a:t>Reference visual: lower-middle horizontal bar chart.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1143000" cy="45720"/>
          </a:xfrm>
          <a:prstGeom prst="rect">
            <a:avLst/>
          </a:prstGeom>
          <a:solidFill>
            <a:srgbClr val="1C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D2E5E9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6400800" cy="4480560"/>
          </a:xfrm>
          <a:prstGeom prst="roundRect">
            <a:avLst/>
          </a:prstGeom>
          <a:solidFill>
            <a:srgbClr val="305363"/>
          </a:solidFill>
          <a:ln w="12700">
            <a:solidFill>
              <a:srgbClr val="30B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eal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98294"/>
            <a:ext cx="6080760" cy="331063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78040" y="1691640"/>
            <a:ext cx="4343400" cy="3886200"/>
          </a:xfrm>
          <a:prstGeom prst="roundRect">
            <a:avLst/>
          </a:prstGeom>
          <a:solidFill>
            <a:srgbClr val="305363"/>
          </a:solidFill>
          <a:ln w="12700">
            <a:solidFill>
              <a:srgbClr val="30B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196596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F7FAFA"/>
                </a:solidFill>
                <a:latin typeface="Aptos"/>
              </a:defRPr>
            </a:pPr>
            <a:r>
              <a:t>Key observations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2606040"/>
            <a:ext cx="36576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7FAFA"/>
                </a:solidFill>
                <a:latin typeface="Aptos"/>
              </a:defRPr>
            </a:pPr>
            <a:r>
              <a:t>Loaded Burrito, Nachos &amp; Soda is among the highest displayed categories.</a:t>
            </a:r>
          </a:p>
          <a:p>
            <a:pPr>
              <a:spcAft>
                <a:spcPts val="1200"/>
              </a:spcAft>
              <a:defRPr sz="1500">
                <a:solidFill>
                  <a:srgbClr val="F7FAFA"/>
                </a:solidFill>
                <a:latin typeface="Aptos"/>
              </a:defRPr>
            </a:pPr>
            <a:r>
              <a:t>Double Burger &amp; Large Fry and Late-Night Value Menu Binge are also near the top.</a:t>
            </a:r>
          </a:p>
          <a:p>
            <a:pPr>
              <a:spcAft>
                <a:spcPts val="1200"/>
              </a:spcAft>
              <a:defRPr sz="1500">
                <a:solidFill>
                  <a:srgbClr val="F7FAFA"/>
                </a:solidFill>
                <a:latin typeface="Aptos"/>
              </a:defRPr>
            </a:pPr>
            <a:r>
              <a:t>The bars are fairly close in length, so the differences appear limited.</a:t>
            </a:r>
          </a:p>
          <a:p>
            <a:pPr>
              <a:spcAft>
                <a:spcPts val="1200"/>
              </a:spcAft>
              <a:defRPr sz="1500">
                <a:solidFill>
                  <a:srgbClr val="F7FAFA"/>
                </a:solidFill>
                <a:latin typeface="Aptos"/>
              </a:defRPr>
            </a:pPr>
            <a:r>
              <a:t>Use consistent category definitions when comparing meals.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144768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D2E5E9"/>
                </a:solidFill>
                <a:latin typeface="Aptos"/>
              </a:defRPr>
            </a:pPr>
            <a:r>
              <a:t>Meal names are taken from the supplied dashboard screenshot.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F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7FAFA"/>
                </a:solidFill>
                <a:latin typeface="Aptos"/>
              </a:defRPr>
            </a:pPr>
            <a:r>
              <a:t>Consumer Age &amp; Calories Surplus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039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D2E5E9"/>
                </a:solidFill>
                <a:latin typeface="Aptos"/>
              </a:defRPr>
            </a:pPr>
            <a:r>
              <a:t>Two line charts show how the selected measures change across consumer ages.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1143000" cy="45720"/>
          </a:xfrm>
          <a:prstGeom prst="rect">
            <a:avLst/>
          </a:prstGeom>
          <a:solidFill>
            <a:srgbClr val="1C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D2E5E9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5486400" cy="4480560"/>
          </a:xfrm>
          <a:prstGeom prst="roundRect">
            <a:avLst/>
          </a:prstGeom>
          <a:solidFill>
            <a:srgbClr val="305363"/>
          </a:solidFill>
          <a:ln w="12700">
            <a:solidFill>
              <a:srgbClr val="30B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ge_cal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723805"/>
            <a:ext cx="5212080" cy="205961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17920" y="1508760"/>
            <a:ext cx="5440680" cy="4480560"/>
          </a:xfrm>
          <a:prstGeom prst="roundRect">
            <a:avLst/>
          </a:prstGeom>
          <a:solidFill>
            <a:srgbClr val="305363"/>
          </a:solidFill>
          <a:ln w="12700">
            <a:solidFill>
              <a:srgbClr val="30B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urpl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732839"/>
            <a:ext cx="5166360" cy="204154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016752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7FAFA"/>
                </a:solidFill>
                <a:latin typeface="Aptos"/>
              </a:defRPr>
            </a:pPr>
            <a:r>
              <a:t>Age vs calories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016752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7FAFA"/>
                </a:solidFill>
                <a:latin typeface="Aptos"/>
              </a:defRPr>
            </a:pPr>
            <a:r>
              <a:t>Calories surplus by 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45936"/>
            <a:ext cx="10698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D2E5E9"/>
                </a:solidFill>
                <a:latin typeface="Aptos"/>
              </a:defRPr>
            </a:pPr>
            <a:r>
              <a:t>Both lines fluctuate; they do not show a simple steady increase or decrease.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F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7FAFA"/>
                </a:solidFill>
                <a:latin typeface="Aptos"/>
              </a:defRPr>
            </a:pPr>
            <a:r>
              <a:t>Consumer Segments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039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D2E5E9"/>
                </a:solidFill>
                <a:latin typeface="Aptos"/>
              </a:defRPr>
            </a:pPr>
            <a:r>
              <a:t>The dashboard supports descriptive comparisons; additional validation is needed for deeper conclusions.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1143000" cy="45720"/>
          </a:xfrm>
          <a:prstGeom prst="rect">
            <a:avLst/>
          </a:prstGeom>
          <a:solidFill>
            <a:srgbClr val="1C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D2E5E9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3886200" cy="4251960"/>
          </a:xfrm>
          <a:prstGeom prst="roundRect">
            <a:avLst/>
          </a:prstGeom>
          <a:solidFill>
            <a:srgbClr val="305363"/>
          </a:solidFill>
          <a:ln w="12700">
            <a:solidFill>
              <a:srgbClr val="30B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009" y="1691640"/>
            <a:ext cx="1802876" cy="3886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617720" y="1645920"/>
            <a:ext cx="6903720" cy="4160520"/>
          </a:xfrm>
          <a:prstGeom prst="roundRect">
            <a:avLst/>
          </a:prstGeom>
          <a:solidFill>
            <a:srgbClr val="305363"/>
          </a:solidFill>
          <a:ln w="12700">
            <a:solidFill>
              <a:srgbClr val="30B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920240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F7FAFA"/>
                </a:solidFill>
                <a:latin typeface="Aptos"/>
              </a:defRPr>
            </a:pPr>
            <a:r>
              <a:t>Summary and recommended 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19472" y="2606040"/>
            <a:ext cx="62179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7FAFA"/>
                </a:solidFill>
                <a:latin typeface="Aptos"/>
              </a:defRPr>
            </a:pPr>
            <a:r>
              <a:t>Use the chain and meal charts to compare the displayed calorie measures.</a:t>
            </a:r>
          </a:p>
          <a:p>
            <a:pPr>
              <a:spcAft>
                <a:spcPts val="1200"/>
              </a:spcAft>
              <a:defRPr sz="1600">
                <a:solidFill>
                  <a:srgbClr val="F7FAFA"/>
                </a:solidFill>
                <a:latin typeface="Aptos"/>
              </a:defRPr>
            </a:pPr>
            <a:r>
              <a:t>Use age and segment filters to explore differences between groups.</a:t>
            </a:r>
          </a:p>
          <a:p>
            <a:pPr>
              <a:spcAft>
                <a:spcPts val="1200"/>
              </a:spcAft>
              <a:defRPr sz="1600">
                <a:solidFill>
                  <a:srgbClr val="F7FAFA"/>
                </a:solidFill>
                <a:latin typeface="Aptos"/>
              </a:defRPr>
            </a:pPr>
            <a:r>
              <a:t>Confirm metric units, field definitions and aggregation methods.</a:t>
            </a:r>
          </a:p>
          <a:p>
            <a:pPr>
              <a:spcAft>
                <a:spcPts val="1200"/>
              </a:spcAft>
              <a:defRPr sz="1600">
                <a:solidFill>
                  <a:srgbClr val="F7FAFA"/>
                </a:solidFill>
                <a:latin typeface="Aptos"/>
              </a:defRPr>
            </a:pPr>
            <a:r>
              <a:t>Improve truncated labels and include clear axis titles where possible.</a:t>
            </a:r>
          </a:p>
          <a:p>
            <a:pPr>
              <a:spcAft>
                <a:spcPts val="1200"/>
              </a:spcAft>
              <a:defRPr sz="1600">
                <a:solidFill>
                  <a:srgbClr val="F7FAFA"/>
                </a:solidFill>
                <a:latin typeface="Aptos"/>
              </a:defRPr>
            </a:pPr>
            <a:r>
              <a:t>Treat these patterns as descriptive, not proof of cause and effect.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17220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30B89D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